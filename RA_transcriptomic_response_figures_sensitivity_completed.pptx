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Frozen transfer of selected gene signature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AUC</c:v>
                </c:pt>
              </c:strCache>
            </c:strRef>
          </c:tx>
          <c:spPr>
            <a:solidFill>
              <a:srgbClr val="355CAA"/>
            </a:solidFill>
          </c:spPr>
          <c:cat>
            <c:strRef>
              <c:f>Sheet1!$A$2:$A$4</c:f>
              <c:strCache>
                <c:ptCount val="3"/>
                <c:pt idx="0">
                  <c:v>Discovery
Cohort 1</c:v>
                </c:pt>
                <c:pt idx="1">
                  <c:v>Frozen validation
Cohort 2</c:v>
                </c:pt>
                <c:pt idx="2">
                  <c:v>External partial
GSE93272 IFX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0.986</c:v>
                </c:pt>
                <c:pt idx="1">
                  <c:v>0.662</c:v>
                </c:pt>
                <c:pt idx="2">
                  <c:v>0.55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Baseline program discrimination</a:t>
            </a:r>
          </a:p>
          <a:p>
            <a:r>
              <a:t>(clean response extremes, 19 R / 14 NR)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Direction-free AUC</c:v>
                </c:pt>
              </c:strCache>
            </c:strRef>
          </c:tx>
          <c:spPr>
            <a:solidFill>
              <a:srgbClr val="378C5A"/>
            </a:solidFill>
          </c:spPr>
          <c:cat>
            <c:strRef>
              <c:f>Sheet1!$A$2:$A$8</c:f>
              <c:strCache>
                <c:ptCount val="7"/>
                <c:pt idx="0">
                  <c:v>ETC/OXPHOS</c:v>
                </c:pt>
                <c:pt idx="1">
                  <c:v>Myeloid</c:v>
                </c:pt>
                <c:pt idx="2">
                  <c:v>Cell cycle</c:v>
                </c:pt>
                <c:pt idx="3">
                  <c:v>Costimulation</c:v>
                </c:pt>
                <c:pt idx="4">
                  <c:v>Apoptosis</c:v>
                </c:pt>
                <c:pt idx="5">
                  <c:v>Th1/T-cell</c:v>
                </c:pt>
                <c:pt idx="6">
                  <c:v>B-cell/CXCL13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0.9098</c:v>
                </c:pt>
                <c:pt idx="1">
                  <c:v>0.8985</c:v>
                </c:pt>
                <c:pt idx="2">
                  <c:v>0.8835</c:v>
                </c:pt>
                <c:pt idx="3">
                  <c:v>0.8571</c:v>
                </c:pt>
                <c:pt idx="4">
                  <c:v>0.8496</c:v>
                </c:pt>
                <c:pt idx="5">
                  <c:v>0.8008</c:v>
                </c:pt>
                <c:pt idx="6">
                  <c:v>0.7105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5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Baseline ETC/OXPHOS vs DAS28 improvement</a:t>
            </a:r>
          </a:p>
          <a:p>
            <a:r>
              <a:t>Spearman ρ=0.515, P=0.0002492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Patients</c:v>
                </c:pt>
              </c:strCache>
            </c:strRef>
          </c:tx>
          <c:spPr>
            <a:ln w="47625">
              <a:noFill/>
            </a:ln>
          </c:spPr>
          <c:marker>
            <c:size val="6"/>
            <c:spPr>
              <a:solidFill>
                <a:srgbClr val="378C5A"/>
              </a:solidFill>
            </c:spPr>
          </c:marker>
          <c:xVal>
            <c:numRef>
              <c:f>Sheet1!$A$2:$A$47</c:f>
              <c:numCache>
                <c:formatCode>General</c:formatCode>
                <c:ptCount val="46"/>
                <c:pt idx="0">
                  <c:v>0.6049662867927469</c:v>
                </c:pt>
                <c:pt idx="1">
                  <c:v>1.139960150464014</c:v>
                </c:pt>
                <c:pt idx="2">
                  <c:v>1.40149944463834</c:v>
                </c:pt>
                <c:pt idx="3">
                  <c:v>-0.08969288510227272</c:v>
                </c:pt>
                <c:pt idx="4">
                  <c:v>-0.0613091918856675</c:v>
                </c:pt>
                <c:pt idx="5">
                  <c:v>0.4953832686241871</c:v>
                </c:pt>
                <c:pt idx="6">
                  <c:v>0.3321066913089971</c:v>
                </c:pt>
                <c:pt idx="7">
                  <c:v>0.9001752316911992</c:v>
                </c:pt>
                <c:pt idx="8">
                  <c:v>0.287024133354745</c:v>
                </c:pt>
                <c:pt idx="9">
                  <c:v>0.4019798406910276</c:v>
                </c:pt>
                <c:pt idx="10">
                  <c:v>-0.6118849468819816</c:v>
                </c:pt>
                <c:pt idx="11">
                  <c:v>-0.5316552450392635</c:v>
                </c:pt>
                <c:pt idx="12">
                  <c:v>-0.5295599124256656</c:v>
                </c:pt>
                <c:pt idx="13">
                  <c:v>-0.3266056194421191</c:v>
                </c:pt>
                <c:pt idx="14">
                  <c:v>-0.2655438060483659</c:v>
                </c:pt>
                <c:pt idx="15">
                  <c:v>-0.2480380437613767</c:v>
                </c:pt>
                <c:pt idx="16">
                  <c:v>-0.2164670459100129</c:v>
                </c:pt>
                <c:pt idx="17">
                  <c:v>-0.005115109392437245</c:v>
                </c:pt>
                <c:pt idx="18">
                  <c:v>-0.7178114855143393</c:v>
                </c:pt>
                <c:pt idx="19">
                  <c:v>-0.2424163259101382</c:v>
                </c:pt>
                <c:pt idx="20">
                  <c:v>-0.6286415418213852</c:v>
                </c:pt>
                <c:pt idx="21">
                  <c:v>-0.04068028819040286</c:v>
                </c:pt>
                <c:pt idx="22">
                  <c:v>-0.700574532697104</c:v>
                </c:pt>
                <c:pt idx="23">
                  <c:v>0.5446505032618278</c:v>
                </c:pt>
                <c:pt idx="24">
                  <c:v>-0.1422899409643459</c:v>
                </c:pt>
                <c:pt idx="25">
                  <c:v>0.8946608411998852</c:v>
                </c:pt>
                <c:pt idx="26">
                  <c:v>-0.4551609516827758</c:v>
                </c:pt>
                <c:pt idx="27">
                  <c:v>0.64036923907164</c:v>
                </c:pt>
                <c:pt idx="28">
                  <c:v>0.2630493269093861</c:v>
                </c:pt>
                <c:pt idx="29">
                  <c:v>0.001714564865659956</c:v>
                </c:pt>
                <c:pt idx="30">
                  <c:v>-0.01788197128874831</c:v>
                </c:pt>
                <c:pt idx="31">
                  <c:v>-0.04874533809357795</c:v>
                </c:pt>
                <c:pt idx="32">
                  <c:v>0.1097472637291126</c:v>
                </c:pt>
                <c:pt idx="33">
                  <c:v>-0.4126940378598255</c:v>
                </c:pt>
                <c:pt idx="34">
                  <c:v>-0.1347666439911107</c:v>
                </c:pt>
                <c:pt idx="35">
                  <c:v>0.963603041726038</c:v>
                </c:pt>
                <c:pt idx="36">
                  <c:v>-0.7262798370397465</c:v>
                </c:pt>
                <c:pt idx="37">
                  <c:v>-0.2197801647338252</c:v>
                </c:pt>
                <c:pt idx="38">
                  <c:v>-0.2227404656778207</c:v>
                </c:pt>
                <c:pt idx="39">
                  <c:v>0.4709577906826615</c:v>
                </c:pt>
                <c:pt idx="40">
                  <c:v>-1.00986949393911</c:v>
                </c:pt>
                <c:pt idx="41">
                  <c:v>-0.758663836508094</c:v>
                </c:pt>
                <c:pt idx="42">
                  <c:v>0.2833791451469737</c:v>
                </c:pt>
                <c:pt idx="43">
                  <c:v>-0.3388967430882404</c:v>
                </c:pt>
                <c:pt idx="44">
                  <c:v>0.2309419735379056</c:v>
                </c:pt>
                <c:pt idx="45">
                  <c:v>-0.2624033328065676</c:v>
                </c:pt>
              </c:numCache>
            </c:numRef>
          </c:xVal>
          <c:yVal>
            <c:numRef>
              <c:f>Sheet1!$B$2:$B$47</c:f>
              <c:numCache>
                <c:formatCode>General</c:formatCode>
                <c:ptCount val="46"/>
                <c:pt idx="0">
                  <c:v>3.6</c:v>
                </c:pt>
                <c:pt idx="1">
                  <c:v>4.1</c:v>
                </c:pt>
                <c:pt idx="2">
                  <c:v>4.5</c:v>
                </c:pt>
                <c:pt idx="3">
                  <c:v>2.3</c:v>
                </c:pt>
                <c:pt idx="4">
                  <c:v>4.7</c:v>
                </c:pt>
                <c:pt idx="5">
                  <c:v>2.5</c:v>
                </c:pt>
                <c:pt idx="6">
                  <c:v>2.9</c:v>
                </c:pt>
                <c:pt idx="7">
                  <c:v>2.4</c:v>
                </c:pt>
                <c:pt idx="8">
                  <c:v>3.2</c:v>
                </c:pt>
                <c:pt idx="9">
                  <c:v>3.1</c:v>
                </c:pt>
                <c:pt idx="10">
                  <c:v>0.5</c:v>
                </c:pt>
                <c:pt idx="11">
                  <c:v>1.1</c:v>
                </c:pt>
                <c:pt idx="12">
                  <c:v>1.0</c:v>
                </c:pt>
                <c:pt idx="13">
                  <c:v>1.2</c:v>
                </c:pt>
                <c:pt idx="14">
                  <c:v>-0.1</c:v>
                </c:pt>
                <c:pt idx="15">
                  <c:v>0.4</c:v>
                </c:pt>
                <c:pt idx="16">
                  <c:v>0.5</c:v>
                </c:pt>
                <c:pt idx="17">
                  <c:v>1.0</c:v>
                </c:pt>
                <c:pt idx="18">
                  <c:v>0.7</c:v>
                </c:pt>
                <c:pt idx="19">
                  <c:v>1.8</c:v>
                </c:pt>
                <c:pt idx="20">
                  <c:v>2.3</c:v>
                </c:pt>
                <c:pt idx="21">
                  <c:v>4.0</c:v>
                </c:pt>
                <c:pt idx="22">
                  <c:v>2.2</c:v>
                </c:pt>
                <c:pt idx="23">
                  <c:v>1.9</c:v>
                </c:pt>
                <c:pt idx="24">
                  <c:v>3.7</c:v>
                </c:pt>
                <c:pt idx="25">
                  <c:v>2.9</c:v>
                </c:pt>
                <c:pt idx="26">
                  <c:v>2.8</c:v>
                </c:pt>
                <c:pt idx="27">
                  <c:v>1.9</c:v>
                </c:pt>
                <c:pt idx="28">
                  <c:v>2.3</c:v>
                </c:pt>
                <c:pt idx="29">
                  <c:v>4.0</c:v>
                </c:pt>
                <c:pt idx="30">
                  <c:v>3.4</c:v>
                </c:pt>
                <c:pt idx="31">
                  <c:v>2.3</c:v>
                </c:pt>
                <c:pt idx="32">
                  <c:v>3.4</c:v>
                </c:pt>
                <c:pt idx="33">
                  <c:v>2.5</c:v>
                </c:pt>
                <c:pt idx="34">
                  <c:v>4.1</c:v>
                </c:pt>
                <c:pt idx="35">
                  <c:v>2.3</c:v>
                </c:pt>
                <c:pt idx="36">
                  <c:v>0.5</c:v>
                </c:pt>
                <c:pt idx="37">
                  <c:v>1.2</c:v>
                </c:pt>
                <c:pt idx="38">
                  <c:v>0.5</c:v>
                </c:pt>
                <c:pt idx="39">
                  <c:v>0.0</c:v>
                </c:pt>
                <c:pt idx="40">
                  <c:v>0.4</c:v>
                </c:pt>
                <c:pt idx="41">
                  <c:v>-0.1</c:v>
                </c:pt>
                <c:pt idx="42">
                  <c:v>1.0</c:v>
                </c:pt>
                <c:pt idx="43">
                  <c:v>1.8</c:v>
                </c:pt>
                <c:pt idx="44">
                  <c:v>3.1</c:v>
                </c:pt>
                <c:pt idx="45">
                  <c:v>3.0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Baseline ETC/OXPHOS score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DAS28 improvement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Tocilizumab paired pathway remodeling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Mean paired change</c:v>
                </c:pt>
              </c:strCache>
            </c:strRef>
          </c:tx>
          <c:spPr>
            <a:solidFill>
              <a:srgbClr val="D77D3F"/>
            </a:solidFill>
          </c:spPr>
          <c:cat>
            <c:strRef>
              <c:f>Sheet1!$A$2:$A$10</c:f>
              <c:strCache>
                <c:ptCount val="9"/>
                <c:pt idx="0">
                  <c:v>Myeloid</c:v>
                </c:pt>
                <c:pt idx="1">
                  <c:v>NFkB/inflammatory</c:v>
                </c:pt>
                <c:pt idx="2">
                  <c:v>Th1/Tcell</c:v>
                </c:pt>
                <c:pt idx="3">
                  <c:v>Apoptosis</c:v>
                </c:pt>
                <c:pt idx="4">
                  <c:v>Costimulation</c:v>
                </c:pt>
                <c:pt idx="5">
                  <c:v>IFN/response</c:v>
                </c:pt>
                <c:pt idx="6">
                  <c:v>Bcell/CXCL13</c:v>
                </c:pt>
                <c:pt idx="7">
                  <c:v>Cell/cycle</c:v>
                </c:pt>
                <c:pt idx="8">
                  <c:v>Mito/ETC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-1.8631778241447075</c:v>
                </c:pt>
                <c:pt idx="1">
                  <c:v>-1.130586098931202</c:v>
                </c:pt>
                <c:pt idx="2">
                  <c:v>-0.7845458434962981</c:v>
                </c:pt>
                <c:pt idx="3">
                  <c:v>-0.6366951544843975</c:v>
                </c:pt>
                <c:pt idx="4">
                  <c:v>-0.5803692325139665</c:v>
                </c:pt>
                <c:pt idx="5">
                  <c:v>-0.5488878074456628</c:v>
                </c:pt>
                <c:pt idx="6">
                  <c:v>-0.5185203391126394</c:v>
                </c:pt>
                <c:pt idx="7">
                  <c:v>-0.5102094178271264</c:v>
                </c:pt>
                <c:pt idx="8">
                  <c:v>0.5628006798142813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Global DRI vs clinical improvement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Tocilizumab</c:v>
                </c:pt>
              </c:strCache>
            </c:strRef>
          </c:tx>
          <c:spPr>
            <a:ln w="47625">
              <a:noFill/>
            </a:ln>
          </c:spPr>
          <c:marker>
            <c:size val="6"/>
            <c:spPr>
              <a:solidFill>
                <a:srgbClr val="B94646"/>
              </a:solidFill>
            </c:spPr>
          </c:marker>
          <c:xVal>
            <c:numRef>
              <c:f>Sheet1!$A$2:$A$13</c:f>
              <c:numCache>
                <c:formatCode>General</c:formatCode>
                <c:ptCount val="12"/>
                <c:pt idx="0">
                  <c:v>3.780780551119847</c:v>
                </c:pt>
                <c:pt idx="1">
                  <c:v>1.893245877019096</c:v>
                </c:pt>
                <c:pt idx="2">
                  <c:v>1.2791216961570275</c:v>
                </c:pt>
                <c:pt idx="3">
                  <c:v>1.981010151258944</c:v>
                </c:pt>
                <c:pt idx="4">
                  <c:v>1.3750681181775983</c:v>
                </c:pt>
                <c:pt idx="5">
                  <c:v>1.3521007072620124</c:v>
                </c:pt>
                <c:pt idx="6">
                  <c:v>1.4525255466014229</c:v>
                </c:pt>
                <c:pt idx="7">
                  <c:v>1.356890732807828</c:v>
                </c:pt>
                <c:pt idx="8">
                  <c:v>1.2932276257320818</c:v>
                </c:pt>
                <c:pt idx="9">
                  <c:v>1.297748606282858</c:v>
                </c:pt>
                <c:pt idx="10">
                  <c:v>1.4390041729178795</c:v>
                </c:pt>
                <c:pt idx="11">
                  <c:v>1.3345543483852351</c:v>
                </c:pt>
              </c:numCache>
            </c:numRef>
          </c:xVal>
          <c:yVal>
            <c:numRef>
              <c:f>Sheet1!$B$2:$B$13</c:f>
              <c:numCache>
                <c:formatCode>General</c:formatCode>
                <c:ptCount val="12"/>
                <c:pt idx="0">
                  <c:v>1.3699999999999997</c:v>
                </c:pt>
                <c:pt idx="1">
                  <c:v>4.45</c:v>
                </c:pt>
                <c:pt idx="2">
                  <c:v>2.43</c:v>
                </c:pt>
                <c:pt idx="3">
                  <c:v>3.770000000000001</c:v>
                </c:pt>
                <c:pt idx="4">
                  <c:v>2.6100000000000003</c:v>
                </c:pt>
                <c:pt idx="5">
                  <c:v>3.42</c:v>
                </c:pt>
                <c:pt idx="6">
                  <c:v>0.2299999999999999</c:v>
                </c:pt>
                <c:pt idx="7">
                  <c:v>0.79</c:v>
                </c:pt>
                <c:pt idx="8">
                  <c:v>2.7700000000000005</c:v>
                </c:pt>
                <c:pt idx="9">
                  <c:v>1.4300000000000002</c:v>
                </c:pt>
                <c:pt idx="10">
                  <c:v>0.96</c:v>
                </c:pt>
                <c:pt idx="11">
                  <c:v>1.5500000000000005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Sheet1!$B$15</c:f>
              <c:strCache>
                <c:ptCount val="1"/>
                <c:pt idx="0">
                  <c:v>Methotrexate</c:v>
                </c:pt>
              </c:strCache>
            </c:strRef>
          </c:tx>
          <c:spPr>
            <a:ln w="47625">
              <a:noFill/>
            </a:ln>
          </c:spPr>
          <c:marker>
            <c:size val="6"/>
            <c:spPr>
              <a:solidFill>
                <a:srgbClr val="355CAA"/>
              </a:solidFill>
            </c:spPr>
          </c:marker>
          <c:xVal>
            <c:numRef>
              <c:f>Sheet1!$A$16:$A$23</c:f>
              <c:numCache>
                <c:formatCode>General</c:formatCode>
                <c:ptCount val="8"/>
                <c:pt idx="0">
                  <c:v>1.3910172333355144</c:v>
                </c:pt>
                <c:pt idx="1">
                  <c:v>1.5874062565940643</c:v>
                </c:pt>
                <c:pt idx="2">
                  <c:v>3.1876873516731297</c:v>
                </c:pt>
                <c:pt idx="3">
                  <c:v>1.5086484839863858</c:v>
                </c:pt>
                <c:pt idx="4">
                  <c:v>1.340687315087195</c:v>
                </c:pt>
                <c:pt idx="5">
                  <c:v>2.1373289308268597</c:v>
                </c:pt>
                <c:pt idx="6">
                  <c:v>1.9158087470619096</c:v>
                </c:pt>
                <c:pt idx="7">
                  <c:v>1.4005272989419302</c:v>
                </c:pt>
              </c:numCache>
            </c:numRef>
          </c:xVal>
          <c:yVal>
            <c:numRef>
              <c:f>Sheet1!$B$16:$B$23</c:f>
              <c:numCache>
                <c:formatCode>General</c:formatCode>
                <c:ptCount val="8"/>
                <c:pt idx="0">
                  <c:v>0.1100000000000003</c:v>
                </c:pt>
                <c:pt idx="1">
                  <c:v>2.89</c:v>
                </c:pt>
                <c:pt idx="2">
                  <c:v>0.3999999999999999</c:v>
                </c:pt>
                <c:pt idx="3">
                  <c:v>0.6899999999999995</c:v>
                </c:pt>
                <c:pt idx="4">
                  <c:v>-1.2600000000000002</c:v>
                </c:pt>
                <c:pt idx="5">
                  <c:v>0.7599999999999998</c:v>
                </c:pt>
                <c:pt idx="6">
                  <c:v>-0.0099999999999997</c:v>
                </c:pt>
                <c:pt idx="7">
                  <c:v>1.45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Global DRI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DAS28 improvement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C304E"/>
                </a:solidFill>
              </a:defRPr>
            </a:pPr>
            <a:r>
              <a:t>Figure 1 | Validation-first framework for RA transcriptomic response biology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6E78"/>
                </a:solidFill>
              </a:defRPr>
            </a:pPr>
            <a:r>
              <a:t>Separate baseline response state (BRS), longitudinal drug-response index (DRI), and cross-cohort transferability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43000"/>
            <a:ext cx="2743200" cy="1828800"/>
          </a:xfrm>
          <a:prstGeom prst="roundRect">
            <a:avLst/>
          </a:prstGeom>
          <a:solidFill>
            <a:srgbClr val="F2F4F8"/>
          </a:solidFill>
          <a:ln w="19050">
            <a:solidFill>
              <a:srgbClr val="35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55CAA"/>
                </a:solidFill>
              </a:defRPr>
            </a:pPr>
            <a:r>
              <a:t>Baseline response state</a:t>
            </a:r>
          </a:p>
          <a:p>
            <a:pPr algn="ctr">
              <a:defRPr sz="1150">
                <a:solidFill>
                  <a:srgbClr val="1E2128"/>
                </a:solidFill>
              </a:defRPr>
            </a:pPr>
            <a:r>
              <a:t>Pretreatment program score</a:t>
            </a:r>
            <a:br/>
            <a:r>
              <a:t>Responder vs nonresponder</a:t>
            </a:r>
            <a:br/>
            <a:r>
              <a:t>Signed direction is retained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09160" y="1143000"/>
            <a:ext cx="2743200" cy="1828800"/>
          </a:xfrm>
          <a:prstGeom prst="roundRect">
            <a:avLst/>
          </a:prstGeom>
          <a:solidFill>
            <a:srgbClr val="F2F4F8"/>
          </a:solidFill>
          <a:ln w="19050">
            <a:solidFill>
              <a:srgbClr val="37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78C5A"/>
                </a:solidFill>
              </a:defRPr>
            </a:pPr>
            <a:r>
              <a:t>Longitudinal DRI</a:t>
            </a:r>
          </a:p>
          <a:p>
            <a:pPr algn="ctr">
              <a:defRPr sz="1150">
                <a:solidFill>
                  <a:srgbClr val="1E2128"/>
                </a:solidFill>
              </a:defRPr>
            </a:pPr>
            <a:r>
              <a:t>Paired post−baseline change</a:t>
            </a:r>
            <a:br/>
            <a:r>
              <a:t>Global molecular displacement</a:t>
            </a:r>
            <a:br/>
            <a:r>
              <a:t>Clinical coupling tested separately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680" y="1143000"/>
            <a:ext cx="2743200" cy="1828800"/>
          </a:xfrm>
          <a:prstGeom prst="roundRect">
            <a:avLst/>
          </a:prstGeom>
          <a:solidFill>
            <a:srgbClr val="F2F4F8"/>
          </a:solidFill>
          <a:ln w="19050">
            <a:solidFill>
              <a:srgbClr val="D77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D77D3F"/>
                </a:solidFill>
              </a:defRPr>
            </a:pPr>
            <a:r>
              <a:t>Transferability</a:t>
            </a:r>
          </a:p>
          <a:p>
            <a:pPr algn="ctr">
              <a:defRPr sz="1150">
                <a:solidFill>
                  <a:srgbClr val="1E2128"/>
                </a:solidFill>
              </a:defRPr>
            </a:pPr>
            <a:r>
              <a:t>Frozen programs tested across</a:t>
            </a:r>
            <a:br/>
            <a:r>
              <a:t>drug, tissue, platform and cohort</a:t>
            </a:r>
            <a:br/>
            <a:r>
              <a:t>Discovery ≠ validation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429000" y="1691640"/>
            <a:ext cx="914400" cy="502920"/>
          </a:xfrm>
          <a:prstGeom prst="rightArrow">
            <a:avLst/>
          </a:prstGeom>
          <a:solidFill>
            <a:srgbClr val="696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Arrow 7"/>
          <p:cNvSpPr/>
          <p:nvPr/>
        </p:nvSpPr>
        <p:spPr>
          <a:xfrm>
            <a:off x="7589520" y="1691640"/>
            <a:ext cx="914400" cy="502920"/>
          </a:xfrm>
          <a:prstGeom prst="rightArrow">
            <a:avLst/>
          </a:prstGeom>
          <a:solidFill>
            <a:srgbClr val="696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05840" y="3931920"/>
            <a:ext cx="10149840" cy="1463040"/>
          </a:xfrm>
          <a:prstGeom prst="roundRect">
            <a:avLst/>
          </a:prstGeom>
          <a:solidFill>
            <a:srgbClr val="F2F4F8"/>
          </a:solidFill>
          <a:ln w="19050">
            <a:solidFill>
              <a:srgbClr val="1C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C304E"/>
                </a:solidFill>
              </a:defRPr>
            </a:pPr>
            <a:r>
              <a:t>Implementation added in this revision</a:t>
            </a:r>
          </a:p>
          <a:p>
            <a:pPr algn="ctr">
              <a:defRPr sz="1150">
                <a:solidFill>
                  <a:srgbClr val="1E2128"/>
                </a:solidFill>
              </a:defRPr>
            </a:pPr>
            <a:r>
              <a:t>All baseline program results are now expressed as signed high-score AUCs with approximate 95% CIs; direction-free AUC is retained only as a secondary discrimination statistic. The main claim is framed as a conditional biological-state model, not as a universal response score.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C304E"/>
                </a:solidFill>
              </a:defRPr>
            </a:pPr>
            <a:r>
              <a:t>Figure 2 | Signed cross-cohort transfer of predefined response programs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6E78"/>
                </a:solidFill>
              </a:defRPr>
            </a:pPr>
            <a:r>
              <a:t>Positive values: higher program activity in responders; negative values: lower program activity in responders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72200" y="1143000"/>
            <a:ext cx="10972" cy="5120640"/>
          </a:xfrm>
          <a:prstGeom prst="rect">
            <a:avLst/>
          </a:prstGeom>
          <a:solidFill>
            <a:srgbClr val="696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98600" y="6309359"/>
            <a:ext cx="9144" cy="82296"/>
          </a:xfrm>
          <a:prstGeom prst="rect">
            <a:avLst/>
          </a:prstGeom>
          <a:solidFill>
            <a:srgbClr val="696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43152" y="6428231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1E2128"/>
                </a:solidFill>
              </a:defRPr>
            </a:pPr>
            <a:r>
              <a:t>-0.4</a:t>
            </a:r>
          </a:p>
        </p:txBody>
      </p:sp>
      <p:sp>
        <p:nvSpPr>
          <p:cNvPr id="7" name="Rectangle 6"/>
          <p:cNvSpPr/>
          <p:nvPr/>
        </p:nvSpPr>
        <p:spPr>
          <a:xfrm>
            <a:off x="3835400" y="6309359"/>
            <a:ext cx="9144" cy="82296"/>
          </a:xfrm>
          <a:prstGeom prst="rect">
            <a:avLst/>
          </a:prstGeom>
          <a:solidFill>
            <a:srgbClr val="696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79952" y="6428231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1E2128"/>
                </a:solidFill>
              </a:defRPr>
            </a:pPr>
            <a:r>
              <a:t>-0.2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6309359"/>
            <a:ext cx="9144" cy="82296"/>
          </a:xfrm>
          <a:prstGeom prst="rect">
            <a:avLst/>
          </a:prstGeom>
          <a:solidFill>
            <a:srgbClr val="696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16752" y="6428231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1E2128"/>
                </a:solidFill>
              </a:defRPr>
            </a:pPr>
            <a:r>
              <a:t>+0.0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09000" y="6309359"/>
            <a:ext cx="9144" cy="82296"/>
          </a:xfrm>
          <a:prstGeom prst="rect">
            <a:avLst/>
          </a:prstGeom>
          <a:solidFill>
            <a:srgbClr val="696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53552" y="6428231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1E2128"/>
                </a:solidFill>
              </a:defRPr>
            </a:pPr>
            <a:r>
              <a:t>+0.2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845800" y="6309359"/>
            <a:ext cx="9144" cy="82296"/>
          </a:xfrm>
          <a:prstGeom prst="rect">
            <a:avLst/>
          </a:prstGeom>
          <a:solidFill>
            <a:srgbClr val="696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0352" y="6428231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1E2128"/>
                </a:solidFill>
              </a:defRPr>
            </a:pPr>
            <a:r>
              <a:t>+0.4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6492240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1E2128"/>
                </a:solidFill>
              </a:defRPr>
            </a:pPr>
            <a:r>
              <a:t>Signed AUC − 0.5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9954" y="1289304"/>
            <a:ext cx="2714361" cy="16459"/>
          </a:xfrm>
          <a:prstGeom prst="rect">
            <a:avLst/>
          </a:prstGeom>
          <a:solidFill>
            <a:srgbClr val="35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726842" y="1229868"/>
            <a:ext cx="100584" cy="100584"/>
          </a:xfrm>
          <a:prstGeom prst="ellipse">
            <a:avLst/>
          </a:prstGeom>
          <a:solidFill>
            <a:srgbClr val="355C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6032" y="118872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60" b="0">
                <a:solidFill>
                  <a:srgbClr val="1E2128"/>
                </a:solidFill>
              </a:defRPr>
            </a:pPr>
            <a:r>
              <a:t>GSE68215 Baseline Mito/ETC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41780" y="1635469"/>
            <a:ext cx="4242003" cy="16459"/>
          </a:xfrm>
          <a:prstGeom prst="rect">
            <a:avLst/>
          </a:prstGeom>
          <a:solidFill>
            <a:srgbClr val="D77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912490" y="1576033"/>
            <a:ext cx="100584" cy="100584"/>
          </a:xfrm>
          <a:prstGeom prst="ellipse">
            <a:avLst/>
          </a:prstGeom>
          <a:solidFill>
            <a:srgbClr val="D77D3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6032" y="1534885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60" b="0">
                <a:solidFill>
                  <a:srgbClr val="1E2128"/>
                </a:solidFill>
              </a:defRPr>
            </a:pPr>
            <a:r>
              <a:t>GSE68215 Baseline NFkB/inflammatory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21903" y="1981635"/>
            <a:ext cx="4434525" cy="16459"/>
          </a:xfrm>
          <a:prstGeom prst="rect">
            <a:avLst/>
          </a:prstGeom>
          <a:solidFill>
            <a:srgbClr val="37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488873" y="1922199"/>
            <a:ext cx="100584" cy="100584"/>
          </a:xfrm>
          <a:prstGeom prst="ellipse">
            <a:avLst/>
          </a:prstGeom>
          <a:solidFill>
            <a:srgbClr val="378C5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6032" y="1881051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60" b="0">
                <a:solidFill>
                  <a:srgbClr val="1E2128"/>
                </a:solidFill>
              </a:defRPr>
            </a:pPr>
            <a:r>
              <a:t>GSE68215 Baseline IFN/response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55189" y="2327801"/>
            <a:ext cx="4174947" cy="16459"/>
          </a:xfrm>
          <a:prstGeom prst="rect">
            <a:avLst/>
          </a:prstGeom>
          <a:solidFill>
            <a:srgbClr val="35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92370" y="2268365"/>
            <a:ext cx="100584" cy="100584"/>
          </a:xfrm>
          <a:prstGeom prst="ellipse">
            <a:avLst/>
          </a:prstGeom>
          <a:solidFill>
            <a:srgbClr val="355C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6032" y="2227217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60" b="0">
                <a:solidFill>
                  <a:srgbClr val="1E2128"/>
                </a:solidFill>
              </a:defRPr>
            </a:pPr>
            <a:r>
              <a:t>GSE33377 Baseline Mito/ETC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35443" y="2673966"/>
            <a:ext cx="3758216" cy="16459"/>
          </a:xfrm>
          <a:prstGeom prst="rect">
            <a:avLst/>
          </a:prstGeom>
          <a:solidFill>
            <a:srgbClr val="D77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664259" y="2614530"/>
            <a:ext cx="100584" cy="100584"/>
          </a:xfrm>
          <a:prstGeom prst="ellipse">
            <a:avLst/>
          </a:prstGeom>
          <a:solidFill>
            <a:srgbClr val="D77D3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6032" y="257338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60" b="0">
                <a:solidFill>
                  <a:srgbClr val="1E2128"/>
                </a:solidFill>
              </a:defRPr>
            </a:pPr>
            <a:r>
              <a:t>GSE33377 Baseline NFkB/inflammatory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8345" y="3020132"/>
            <a:ext cx="3918746" cy="16459"/>
          </a:xfrm>
          <a:prstGeom prst="rect">
            <a:avLst/>
          </a:prstGeom>
          <a:solidFill>
            <a:srgbClr val="37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177426" y="2960696"/>
            <a:ext cx="100584" cy="100584"/>
          </a:xfrm>
          <a:prstGeom prst="ellipse">
            <a:avLst/>
          </a:prstGeom>
          <a:solidFill>
            <a:srgbClr val="378C5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6032" y="291954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60" b="0">
                <a:solidFill>
                  <a:srgbClr val="1E2128"/>
                </a:solidFill>
              </a:defRPr>
            </a:pPr>
            <a:r>
              <a:t>GSE33377 Baseline IFN/response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01319" y="3366298"/>
            <a:ext cx="3940068" cy="16459"/>
          </a:xfrm>
          <a:prstGeom prst="rect">
            <a:avLst/>
          </a:prstGeom>
          <a:solidFill>
            <a:srgbClr val="35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321061" y="3306862"/>
            <a:ext cx="100584" cy="100584"/>
          </a:xfrm>
          <a:prstGeom prst="ellipse">
            <a:avLst/>
          </a:prstGeom>
          <a:solidFill>
            <a:srgbClr val="355C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6032" y="326571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60" b="0">
                <a:solidFill>
                  <a:srgbClr val="1E2128"/>
                </a:solidFill>
              </a:defRPr>
            </a:pPr>
            <a:r>
              <a:t>GSE15258 Baseline RESPONSE vs NORESPONSE Mito/ETC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12635" y="3712463"/>
            <a:ext cx="3914074" cy="16459"/>
          </a:xfrm>
          <a:prstGeom prst="rect">
            <a:avLst/>
          </a:prstGeom>
          <a:solidFill>
            <a:srgbClr val="D77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719381" y="3653027"/>
            <a:ext cx="100584" cy="100584"/>
          </a:xfrm>
          <a:prstGeom prst="ellipse">
            <a:avLst/>
          </a:prstGeom>
          <a:solidFill>
            <a:srgbClr val="D77D3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6032" y="3611879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60" b="0">
                <a:solidFill>
                  <a:srgbClr val="1E2128"/>
                </a:solidFill>
              </a:defRPr>
            </a:pPr>
            <a:r>
              <a:t>GSE15258 Baseline RESPONSE vs NORESPONSE NFkB/inflammatory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98882" y="4058629"/>
            <a:ext cx="3825068" cy="16459"/>
          </a:xfrm>
          <a:prstGeom prst="rect">
            <a:avLst/>
          </a:prstGeom>
          <a:solidFill>
            <a:srgbClr val="37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361124" y="3999193"/>
            <a:ext cx="100584" cy="100584"/>
          </a:xfrm>
          <a:prstGeom prst="ellipse">
            <a:avLst/>
          </a:prstGeom>
          <a:solidFill>
            <a:srgbClr val="378C5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6032" y="3958045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60" b="0">
                <a:solidFill>
                  <a:srgbClr val="1E2128"/>
                </a:solidFill>
              </a:defRPr>
            </a:pPr>
            <a:r>
              <a:t>GSE15258 Baseline RESPONSE vs NORESPONSE IFN/response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70316" y="4404795"/>
            <a:ext cx="3376708" cy="16459"/>
          </a:xfrm>
          <a:prstGeom prst="rect">
            <a:avLst/>
          </a:prstGeom>
          <a:solidFill>
            <a:srgbClr val="35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308378" y="4345359"/>
            <a:ext cx="100584" cy="100584"/>
          </a:xfrm>
          <a:prstGeom prst="ellipse">
            <a:avLst/>
          </a:prstGeom>
          <a:solidFill>
            <a:srgbClr val="355C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56032" y="4304211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60" b="0">
                <a:solidFill>
                  <a:srgbClr val="1E2128"/>
                </a:solidFill>
              </a:defRPr>
            </a:pPr>
            <a:r>
              <a:t>GSE129705 Cohort 1 Mito/ETC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519869" y="4750961"/>
            <a:ext cx="4464794" cy="16459"/>
          </a:xfrm>
          <a:prstGeom prst="rect">
            <a:avLst/>
          </a:prstGeom>
          <a:solidFill>
            <a:srgbClr val="D77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701974" y="4691525"/>
            <a:ext cx="100584" cy="100584"/>
          </a:xfrm>
          <a:prstGeom prst="ellipse">
            <a:avLst/>
          </a:prstGeom>
          <a:solidFill>
            <a:srgbClr val="D77D3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6032" y="4650377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60" b="0">
                <a:solidFill>
                  <a:srgbClr val="1E2128"/>
                </a:solidFill>
              </a:defRPr>
            </a:pPr>
            <a:r>
              <a:t>GSE129705 Cohort 1 NFkB/inflammatory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92129" y="5097126"/>
            <a:ext cx="4580775" cy="16459"/>
          </a:xfrm>
          <a:prstGeom prst="rect">
            <a:avLst/>
          </a:prstGeom>
          <a:solidFill>
            <a:srgbClr val="37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432224" y="5037690"/>
            <a:ext cx="100584" cy="100584"/>
          </a:xfrm>
          <a:prstGeom prst="ellipse">
            <a:avLst/>
          </a:prstGeom>
          <a:solidFill>
            <a:srgbClr val="378C5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56032" y="499654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60" b="0">
                <a:solidFill>
                  <a:srgbClr val="1E2128"/>
                </a:solidFill>
              </a:defRPr>
            </a:pPr>
            <a:r>
              <a:t>GSE129705 Cohort 1 IFN/response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497217" y="5443292"/>
            <a:ext cx="5107570" cy="16459"/>
          </a:xfrm>
          <a:prstGeom prst="rect">
            <a:avLst/>
          </a:prstGeom>
          <a:solidFill>
            <a:srgbClr val="35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000711" y="5383856"/>
            <a:ext cx="100584" cy="100584"/>
          </a:xfrm>
          <a:prstGeom prst="ellipse">
            <a:avLst/>
          </a:prstGeom>
          <a:solidFill>
            <a:srgbClr val="355C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56032" y="534270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60" b="0">
                <a:solidFill>
                  <a:srgbClr val="1E2128"/>
                </a:solidFill>
              </a:defRPr>
            </a:pPr>
            <a:r>
              <a:t>GSE129705 Cohort 2 Mito/ETC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223709" y="5789458"/>
            <a:ext cx="4847494" cy="16459"/>
          </a:xfrm>
          <a:prstGeom prst="rect">
            <a:avLst/>
          </a:prstGeom>
          <a:solidFill>
            <a:srgbClr val="D77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597164" y="5730022"/>
            <a:ext cx="100584" cy="100584"/>
          </a:xfrm>
          <a:prstGeom prst="ellipse">
            <a:avLst/>
          </a:prstGeom>
          <a:solidFill>
            <a:srgbClr val="D77D3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56032" y="568887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60" b="0">
                <a:solidFill>
                  <a:srgbClr val="1E2128"/>
                </a:solidFill>
              </a:defRPr>
            </a:pPr>
            <a:r>
              <a:t>GSE129705 Cohort 2 NFkB/inflammatory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22242" y="6135624"/>
            <a:ext cx="4502710" cy="16459"/>
          </a:xfrm>
          <a:prstGeom prst="rect">
            <a:avLst/>
          </a:prstGeom>
          <a:solidFill>
            <a:srgbClr val="37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8423305" y="6076188"/>
            <a:ext cx="100584" cy="100584"/>
          </a:xfrm>
          <a:prstGeom prst="ellipse">
            <a:avLst/>
          </a:prstGeom>
          <a:solidFill>
            <a:srgbClr val="378C5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6032" y="603504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60" b="0">
                <a:solidFill>
                  <a:srgbClr val="1E2128"/>
                </a:solidFill>
              </a:defRPr>
            </a:pPr>
            <a:r>
              <a:t>GSE129705 Cohort 2 IFN/response</a:t>
            </a:r>
          </a:p>
        </p:txBody>
      </p:sp>
      <p:sp>
        <p:nvSpPr>
          <p:cNvPr id="61" name="Oval 60"/>
          <p:cNvSpPr/>
          <p:nvPr/>
        </p:nvSpPr>
        <p:spPr>
          <a:xfrm>
            <a:off x="8229600" y="868680"/>
            <a:ext cx="109728" cy="109728"/>
          </a:xfrm>
          <a:prstGeom prst="ellipse">
            <a:avLst/>
          </a:prstGeom>
          <a:solidFill>
            <a:srgbClr val="35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366760" y="822960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1E2128"/>
                </a:solidFill>
              </a:defRPr>
            </a:pPr>
            <a:r>
              <a:t>Mito/ETC</a:t>
            </a:r>
          </a:p>
        </p:txBody>
      </p:sp>
      <p:sp>
        <p:nvSpPr>
          <p:cNvPr id="63" name="Oval 62"/>
          <p:cNvSpPr/>
          <p:nvPr/>
        </p:nvSpPr>
        <p:spPr>
          <a:xfrm>
            <a:off x="9372600" y="868680"/>
            <a:ext cx="109728" cy="109728"/>
          </a:xfrm>
          <a:prstGeom prst="ellipse">
            <a:avLst/>
          </a:prstGeom>
          <a:solidFill>
            <a:srgbClr val="D77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509760" y="822960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1E2128"/>
                </a:solidFill>
              </a:defRPr>
            </a:pPr>
            <a:r>
              <a:t>NFkB/inflammatory</a:t>
            </a:r>
          </a:p>
        </p:txBody>
      </p:sp>
      <p:sp>
        <p:nvSpPr>
          <p:cNvPr id="65" name="Oval 64"/>
          <p:cNvSpPr/>
          <p:nvPr/>
        </p:nvSpPr>
        <p:spPr>
          <a:xfrm>
            <a:off x="10515600" y="868680"/>
            <a:ext cx="109728" cy="109728"/>
          </a:xfrm>
          <a:prstGeom prst="ellipse">
            <a:avLst/>
          </a:prstGeom>
          <a:solidFill>
            <a:srgbClr val="37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652760" y="822960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1E2128"/>
                </a:solidFill>
              </a:defRPr>
            </a:pPr>
            <a:r>
              <a:t>IFN/response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15200" y="608076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E2128"/>
                </a:solidFill>
              </a:defRPr>
            </a:pPr>
            <a:r>
              <a:t>Approximate 95% CIs use the Hanley–McNeil AUC standard error. They are used for visual uncertainty, not as a substitute for patient-level bootstrap.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C304E"/>
                </a:solidFill>
              </a:defRPr>
            </a:pPr>
            <a:r>
              <a:t>Figure 3 | High discovery AUC does not guarantee transfer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6E78"/>
                </a:solidFill>
              </a:defRPr>
            </a:pPr>
            <a:r>
              <a:t>GSE129705 demonstrates the drop from selected discovery signature to untouched validation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822960" y="1234440"/>
          <a:ext cx="530352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720840" y="141732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E2128"/>
                </a:solidFill>
              </a:defRPr>
            </a:pPr>
            <a:r>
              <a:t>0.986 → 0.662 → 0.550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20840" y="2148840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E2128"/>
                </a:solidFill>
              </a:defRPr>
            </a:pPr>
            <a:r>
              <a:t>The external 3-gene partial cross-study test is close to chance, reinforcing that within-study feature selection should not be promoted as validation evidence. Full permutation testing still requires the original Cohort-1 expression matrix.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3977639"/>
            <a:ext cx="4434840" cy="1051560"/>
          </a:xfrm>
          <a:prstGeom prst="roundRect">
            <a:avLst/>
          </a:prstGeom>
          <a:solidFill>
            <a:srgbClr val="F2F4F8"/>
          </a:solidFill>
          <a:ln w="19050">
            <a:solidFill>
              <a:srgbClr val="D77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D77D3F"/>
                </a:solidFill>
              </a:defRPr>
            </a:pPr>
            <a:r>
              <a:t>Design rule</a:t>
            </a:r>
          </a:p>
          <a:p>
            <a:pPr algn="ctr">
              <a:defRPr sz="1150">
                <a:solidFill>
                  <a:srgbClr val="1E2128"/>
                </a:solidFill>
              </a:defRPr>
            </a:pPr>
            <a:r>
              <a:t>Freeze feature set and direction first; validate untouched; rank by transferability and uncertainty.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C304E"/>
                </a:solidFill>
              </a:defRPr>
            </a:pPr>
            <a:r>
              <a:t>Figure 4 | Synovial ETC/OXPHOS marks anti-TNF response in GSE198520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6E78"/>
                </a:solidFill>
              </a:defRPr>
            </a:pPr>
            <a:r>
              <a:t>Baseline synovial state is responder-high and tracks continuous DAS28 improvement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51560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128"/>
                </a:solidFill>
              </a:defRPr>
            </a:pPr>
            <a:r>
              <a:t>A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234440"/>
          <a:ext cx="51206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0" y="1051560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128"/>
                </a:solidFill>
              </a:defRPr>
            </a:pPr>
            <a:r>
              <a:t>B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217920" y="1234440"/>
          <a:ext cx="5303520" cy="42519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17920" y="57150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/>
            </a:pPr>
            <a:r>
              <a:t>Adjusted analyses completed: binary OXPHOS remains significant after drug + pathotype (P=0.0188) and after adding baseline DAS28 (P=0.0329). Continuous improvement model: OXPHOS P=3.96×10⁻8 after baseline DAS28 + drug + pathotype.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C304E"/>
                </a:solidFill>
              </a:defRPr>
            </a:pPr>
            <a:r>
              <a:t>Figure 5 | Molecular remodeling is not automatically clinical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6E78"/>
                </a:solidFill>
              </a:defRPr>
            </a:pPr>
            <a:r>
              <a:t>Tocilizumab causes strong synovial program suppression, but global DRI is unrelated to DAS28 improvement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51560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128"/>
                </a:solidFill>
              </a:defRPr>
            </a:pPr>
            <a:r>
              <a:t>A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85800" y="1234440"/>
          <a:ext cx="534924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80760" y="1051560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128"/>
                </a:solidFill>
              </a:defRPr>
            </a:pPr>
            <a:r>
              <a:t>B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0" y="1234440"/>
          <a:ext cx="5120640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46520" y="5715000"/>
            <a:ext cx="4892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E2128"/>
                </a:solidFill>
              </a:defRPr>
            </a:pPr>
            <a:r>
              <a:t>Spearman ρ: TCZ −0.021; MTX 0.286; anti-TNF synovium ≈0.353. DRI is context-dependent, not a universal endpoint.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C304E"/>
                </a:solidFill>
              </a:defRPr>
            </a:pPr>
            <a:r>
              <a:t>Figure 6 | Context map: response meaning depends on drug × tissue × program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21792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6E78"/>
                </a:solidFill>
              </a:defRPr>
            </a:pPr>
            <a:r>
              <a:t>Data-derived synthesis after adding signed effect direction and uncertainty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508760" cy="457200"/>
          </a:xfrm>
          <a:prstGeom prst="rect">
            <a:avLst/>
          </a:prstGeom>
          <a:solidFill>
            <a:srgbClr val="1C304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Therapy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1143000"/>
            <a:ext cx="1554480" cy="457200"/>
          </a:xfrm>
          <a:prstGeom prst="rect">
            <a:avLst/>
          </a:prstGeom>
          <a:solidFill>
            <a:srgbClr val="1C304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Tissue</a:t>
            </a:r>
          </a:p>
        </p:txBody>
      </p:sp>
      <p:sp>
        <p:nvSpPr>
          <p:cNvPr id="6" name="Rectangle 5"/>
          <p:cNvSpPr/>
          <p:nvPr/>
        </p:nvSpPr>
        <p:spPr>
          <a:xfrm>
            <a:off x="3566159" y="1143000"/>
            <a:ext cx="1920240" cy="457200"/>
          </a:xfrm>
          <a:prstGeom prst="rect">
            <a:avLst/>
          </a:prstGeom>
          <a:solidFill>
            <a:srgbClr val="1C304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Program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0" y="1143000"/>
            <a:ext cx="1874519" cy="457200"/>
          </a:xfrm>
          <a:prstGeom prst="rect">
            <a:avLst/>
          </a:prstGeom>
          <a:solidFill>
            <a:srgbClr val="1C304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Direction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60920" y="1143000"/>
            <a:ext cx="4297680" cy="457200"/>
          </a:xfrm>
          <a:prstGeom prst="rect">
            <a:avLst/>
          </a:prstGeom>
          <a:solidFill>
            <a:srgbClr val="1C304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Evidence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00200"/>
            <a:ext cx="1508760" cy="685800"/>
          </a:xfrm>
          <a:prstGeom prst="rect">
            <a:avLst/>
          </a:prstGeom>
          <a:solidFill>
            <a:srgbClr val="FAFBFD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>
                <a:solidFill>
                  <a:srgbClr val="1E2128"/>
                </a:solidFill>
              </a:defRPr>
            </a:pPr>
            <a:r>
              <a:t>Abatacept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1600200"/>
            <a:ext cx="1554480" cy="685800"/>
          </a:xfrm>
          <a:prstGeom prst="rect">
            <a:avLst/>
          </a:prstGeom>
          <a:solidFill>
            <a:srgbClr val="FAFBFD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>
                <a:solidFill>
                  <a:srgbClr val="1E2128"/>
                </a:solidFill>
              </a:defRPr>
            </a:pPr>
            <a:r>
              <a:t>Whole blood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59" y="1600200"/>
            <a:ext cx="1920240" cy="685800"/>
          </a:xfrm>
          <a:prstGeom prst="rect">
            <a:avLst/>
          </a:prstGeom>
          <a:solidFill>
            <a:srgbClr val="FAFBFD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>
                <a:solidFill>
                  <a:srgbClr val="1E2128"/>
                </a:solidFill>
              </a:defRPr>
            </a:pPr>
            <a:r>
              <a:t>ETC/OXPHOS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0" y="1600200"/>
            <a:ext cx="1874519" cy="685800"/>
          </a:xfrm>
          <a:prstGeom prst="rect">
            <a:avLst/>
          </a:prstGeom>
          <a:solidFill>
            <a:srgbClr val="FAFBFD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>
                <a:solidFill>
                  <a:srgbClr val="1E2128"/>
                </a:solidFill>
              </a:defRPr>
            </a:pPr>
            <a:r>
              <a:t>LOW → response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60920" y="1600200"/>
            <a:ext cx="4297680" cy="685800"/>
          </a:xfrm>
          <a:prstGeom prst="rect">
            <a:avLst/>
          </a:prstGeom>
          <a:solidFill>
            <a:srgbClr val="FAFBFD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GSE68215 AUC high→R 0.124</a:t>
            </a:r>
          </a:p>
          <a:p>
            <a:r>
              <a:t>Lineage-adjusted OXPHOS P=0.0136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286000"/>
            <a:ext cx="1508760" cy="685800"/>
          </a:xfrm>
          <a:prstGeom prst="rect">
            <a:avLst/>
          </a:prstGeom>
          <a:solidFill>
            <a:srgbClr val="EEF1F6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>
                <a:solidFill>
                  <a:srgbClr val="1E2128"/>
                </a:solidFill>
              </a:defRPr>
            </a:pPr>
            <a:r>
              <a:t>Anti-TNF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0" y="2286000"/>
            <a:ext cx="1554480" cy="685800"/>
          </a:xfrm>
          <a:prstGeom prst="rect">
            <a:avLst/>
          </a:prstGeom>
          <a:solidFill>
            <a:srgbClr val="EEF1F6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>
                <a:solidFill>
                  <a:srgbClr val="1E2128"/>
                </a:solidFill>
              </a:defRPr>
            </a:pPr>
            <a:r>
              <a:t>Blood/WBC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66159" y="2286000"/>
            <a:ext cx="1920240" cy="685800"/>
          </a:xfrm>
          <a:prstGeom prst="rect">
            <a:avLst/>
          </a:prstGeom>
          <a:solidFill>
            <a:srgbClr val="EEF1F6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>
                <a:solidFill>
                  <a:srgbClr val="1E2128"/>
                </a:solidFill>
              </a:defRPr>
            </a:pPr>
            <a:r>
              <a:t>ETC/OXPHOS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2286000"/>
            <a:ext cx="1874519" cy="685800"/>
          </a:xfrm>
          <a:prstGeom prst="rect">
            <a:avLst/>
          </a:prstGeom>
          <a:solidFill>
            <a:srgbClr val="EEF1F6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>
                <a:solidFill>
                  <a:srgbClr val="1E2128"/>
                </a:solidFill>
              </a:defRPr>
            </a:pPr>
            <a:r>
              <a:t>weak / heterogeneous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60920" y="2286000"/>
            <a:ext cx="4297680" cy="685800"/>
          </a:xfrm>
          <a:prstGeom prst="rect">
            <a:avLst/>
          </a:prstGeom>
          <a:solidFill>
            <a:srgbClr val="EEF1F6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>
                <a:solidFill>
                  <a:srgbClr val="1E2128"/>
                </a:solidFill>
              </a:defRPr>
            </a:pPr>
            <a:r>
              <a:t>AUC high→R 0.52, 0.52, 0.17, 0.40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971800"/>
            <a:ext cx="1508760" cy="685800"/>
          </a:xfrm>
          <a:prstGeom prst="rect">
            <a:avLst/>
          </a:prstGeom>
          <a:solidFill>
            <a:srgbClr val="FAFBFD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>
                <a:solidFill>
                  <a:srgbClr val="1E2128"/>
                </a:solidFill>
              </a:defRPr>
            </a:pPr>
            <a:r>
              <a:t>Anti-TNF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11680" y="2971800"/>
            <a:ext cx="1554480" cy="685800"/>
          </a:xfrm>
          <a:prstGeom prst="rect">
            <a:avLst/>
          </a:prstGeom>
          <a:solidFill>
            <a:srgbClr val="FAFBFD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>
                <a:solidFill>
                  <a:srgbClr val="1E2128"/>
                </a:solidFill>
              </a:defRPr>
            </a:pPr>
            <a:r>
              <a:t>Synovium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66159" y="2971800"/>
            <a:ext cx="1920240" cy="685800"/>
          </a:xfrm>
          <a:prstGeom prst="rect">
            <a:avLst/>
          </a:prstGeom>
          <a:solidFill>
            <a:srgbClr val="FAFBFD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>
                <a:solidFill>
                  <a:srgbClr val="1E2128"/>
                </a:solidFill>
              </a:defRPr>
            </a:pPr>
            <a:r>
              <a:t>ETC/OXPHOS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0" y="2971800"/>
            <a:ext cx="1874519" cy="685800"/>
          </a:xfrm>
          <a:prstGeom prst="rect">
            <a:avLst/>
          </a:prstGeom>
          <a:solidFill>
            <a:srgbClr val="FAFBFD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>
                <a:solidFill>
                  <a:srgbClr val="1E2128"/>
                </a:solidFill>
              </a:defRPr>
            </a:pPr>
            <a:r>
              <a:t>HIGH → response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60920" y="2971800"/>
            <a:ext cx="4297680" cy="685800"/>
          </a:xfrm>
          <a:prstGeom prst="rect">
            <a:avLst/>
          </a:prstGeom>
          <a:solidFill>
            <a:srgbClr val="FAFBFD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GSE198520 AUC 0.910</a:t>
            </a:r>
          </a:p>
          <a:p>
            <a:r>
              <a:t>Adjusted binary P=0.0329; continuous P&lt;10⁻7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657600"/>
            <a:ext cx="1508760" cy="685800"/>
          </a:xfrm>
          <a:prstGeom prst="rect">
            <a:avLst/>
          </a:prstGeom>
          <a:solidFill>
            <a:srgbClr val="EEF1F6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>
                <a:solidFill>
                  <a:srgbClr val="1E2128"/>
                </a:solidFill>
              </a:defRPr>
            </a:pPr>
            <a:r>
              <a:t>Tocilizumab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0" y="3657600"/>
            <a:ext cx="1554480" cy="685800"/>
          </a:xfrm>
          <a:prstGeom prst="rect">
            <a:avLst/>
          </a:prstGeom>
          <a:solidFill>
            <a:srgbClr val="EEF1F6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>
                <a:solidFill>
                  <a:srgbClr val="1E2128"/>
                </a:solidFill>
              </a:defRPr>
            </a:pPr>
            <a:r>
              <a:t>Synovium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66159" y="3657600"/>
            <a:ext cx="1920240" cy="685800"/>
          </a:xfrm>
          <a:prstGeom prst="rect">
            <a:avLst/>
          </a:prstGeom>
          <a:solidFill>
            <a:srgbClr val="EEF1F6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>
                <a:solidFill>
                  <a:srgbClr val="1E2128"/>
                </a:solidFill>
              </a:defRPr>
            </a:pPr>
            <a:r>
              <a:t>Inflammatory modules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0" y="3657600"/>
            <a:ext cx="1874519" cy="685800"/>
          </a:xfrm>
          <a:prstGeom prst="rect">
            <a:avLst/>
          </a:prstGeom>
          <a:solidFill>
            <a:srgbClr val="EEF1F6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>
                <a:solidFill>
                  <a:srgbClr val="1E2128"/>
                </a:solidFill>
              </a:defRPr>
            </a:pPr>
            <a:r>
              <a:t>post-treatment 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60920" y="3657600"/>
            <a:ext cx="4297680" cy="685800"/>
          </a:xfrm>
          <a:prstGeom prst="rect">
            <a:avLst/>
          </a:prstGeom>
          <a:solidFill>
            <a:srgbClr val="EEF1F6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>
                <a:solidFill>
                  <a:srgbClr val="1E2128"/>
                </a:solidFill>
              </a:defRPr>
            </a:pPr>
            <a:r>
              <a:t>Strong remodeling but DRI ρ≈−0.02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343400"/>
            <a:ext cx="1508760" cy="685800"/>
          </a:xfrm>
          <a:prstGeom prst="rect">
            <a:avLst/>
          </a:prstGeom>
          <a:solidFill>
            <a:srgbClr val="FAFBFD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>
                <a:solidFill>
                  <a:srgbClr val="1E2128"/>
                </a:solidFill>
              </a:defRPr>
            </a:pPr>
            <a:r>
              <a:t>Methotrexate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11680" y="4343400"/>
            <a:ext cx="1554480" cy="685800"/>
          </a:xfrm>
          <a:prstGeom prst="rect">
            <a:avLst/>
          </a:prstGeom>
          <a:solidFill>
            <a:srgbClr val="FAFBFD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>
                <a:solidFill>
                  <a:srgbClr val="1E2128"/>
                </a:solidFill>
              </a:defRPr>
            </a:pPr>
            <a:r>
              <a:t>CD4 / synovium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66159" y="4343400"/>
            <a:ext cx="1920240" cy="685800"/>
          </a:xfrm>
          <a:prstGeom prst="rect">
            <a:avLst/>
          </a:prstGeom>
          <a:solidFill>
            <a:srgbClr val="FAFBFD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>
                <a:solidFill>
                  <a:srgbClr val="1E2128"/>
                </a:solidFill>
              </a:defRPr>
            </a:pPr>
            <a:r>
              <a:t>Apoptosis/remodeling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0" y="4343400"/>
            <a:ext cx="1874519" cy="685800"/>
          </a:xfrm>
          <a:prstGeom prst="rect">
            <a:avLst/>
          </a:prstGeom>
          <a:solidFill>
            <a:srgbClr val="FAFBFD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>
                <a:solidFill>
                  <a:srgbClr val="1E2128"/>
                </a:solidFill>
              </a:defRPr>
            </a:pPr>
            <a:r>
              <a:t>drug-induced change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60920" y="4343400"/>
            <a:ext cx="4297680" cy="685800"/>
          </a:xfrm>
          <a:prstGeom prst="rect">
            <a:avLst/>
          </a:prstGeom>
          <a:solidFill>
            <a:srgbClr val="FAFBFD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>
                <a:solidFill>
                  <a:srgbClr val="1E2128"/>
                </a:solidFill>
              </a:defRPr>
            </a:pPr>
            <a:r>
              <a:t>Mechanistic control; limited BRS evidence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05840" y="5532120"/>
            <a:ext cx="10149840" cy="777240"/>
          </a:xfrm>
          <a:prstGeom prst="roundRect">
            <a:avLst/>
          </a:prstGeom>
          <a:solidFill>
            <a:srgbClr val="F2F4F8"/>
          </a:solidFill>
          <a:ln w="19050">
            <a:solidFill>
              <a:srgbClr val="37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78C5A"/>
                </a:solidFill>
              </a:defRPr>
            </a:pPr>
            <a:r>
              <a:t>Conclusion</a:t>
            </a:r>
          </a:p>
          <a:p>
            <a:pPr algn="ctr">
              <a:defRPr sz="1150">
                <a:solidFill>
                  <a:srgbClr val="1E2128"/>
                </a:solidFill>
              </a:defRPr>
            </a:pPr>
            <a:r>
              <a:t>Therapeutic-response biomarkers are conditional biological states. Their predictive direction and strength must be interpreted jointly with treatment mechanism, sampled tissue, assay context and transferability evidence.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33755"/>
                </a:solidFill>
              </a:defRPr>
            </a:pPr>
            <a:r>
              <a:t>Sensitivity analysis | Cell-lineage adjustment and multivariable GSE198520 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4980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973"/>
                </a:solidFill>
              </a:defRPr>
            </a:pPr>
            <a:r>
              <a:t>Reviewer-requested confounding analyses using recoverable patient-level and expression-derived covariates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5257800" cy="4526280"/>
          </a:xfrm>
          <a:prstGeom prst="roundRect">
            <a:avLst/>
          </a:prstGeom>
          <a:solidFill>
            <a:srgbClr val="F4F6F9"/>
          </a:solidFill>
          <a:ln w="25400">
            <a:solidFill>
              <a:srgbClr val="41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/>
          <a:lstStyle/>
          <a:p>
            <a:pPr algn="ctr">
              <a:defRPr sz="1700" b="1">
                <a:solidFill>
                  <a:srgbClr val="4169AA"/>
                </a:solidFill>
              </a:defRPr>
            </a:pPr>
            <a:r>
              <a:t>GSE68215 | Abatacept whole blood</a:t>
            </a:r>
          </a:p>
          <a:p>
            <a:pPr>
              <a:spcAft>
                <a:spcPts val="500"/>
              </a:spcAft>
              <a:defRPr sz="1220">
                <a:solidFill>
                  <a:srgbClr val="23262D"/>
                </a:solidFill>
              </a:defRPr>
            </a:pPr>
            <a:r>
              <a:t>Unadjusted ETC/OXPHOS: P=0.0039</a:t>
            </a:r>
          </a:p>
          <a:p>
            <a:pPr>
              <a:spcAft>
                <a:spcPts val="500"/>
              </a:spcAft>
              <a:defRPr sz="1220">
                <a:solidFill>
                  <a:srgbClr val="23262D"/>
                </a:solidFill>
              </a:defRPr>
            </a:pPr>
            <a:r>
              <a:t>Adjusted for myeloid + B-cell + Th1/T-cell scores: P=0.0136</a:t>
            </a:r>
          </a:p>
          <a:p>
            <a:pPr>
              <a:spcAft>
                <a:spcPts val="500"/>
              </a:spcAft>
              <a:defRPr sz="1220">
                <a:solidFill>
                  <a:srgbClr val="23262D"/>
                </a:solidFill>
              </a:defRPr>
            </a:pPr>
            <a:r>
              <a:t>Add IFN score: P=0.0128</a:t>
            </a:r>
          </a:p>
          <a:p>
            <a:pPr>
              <a:spcAft>
                <a:spcPts val="500"/>
              </a:spcAft>
              <a:defRPr sz="1220">
                <a:solidFill>
                  <a:srgbClr val="23262D"/>
                </a:solidFill>
              </a:defRPr>
            </a:pPr>
            <a:r>
              <a:t>Lineage-residualized discrimination: AUC=0.802; P=0.0021</a:t>
            </a:r>
          </a:p>
          <a:p>
            <a:pPr>
              <a:spcAft>
                <a:spcPts val="500"/>
              </a:spcAft>
              <a:defRPr sz="1220">
                <a:solidFill>
                  <a:srgbClr val="23262D"/>
                </a:solidFill>
              </a:defRPr>
            </a:pPr>
          </a:p>
          <a:p>
            <a:pPr>
              <a:spcAft>
                <a:spcPts val="500"/>
              </a:spcAft>
              <a:defRPr sz="1220">
                <a:solidFill>
                  <a:srgbClr val="23262D"/>
                </a:solidFill>
              </a:defRPr>
            </a:pPr>
            <a:r>
              <a:t>Interpretation: ETC/OXPHOS is not explained solely by broad lineage representation. This is a proxy sensitivity analysis, not measured CBC adjustment.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325880"/>
            <a:ext cx="5257800" cy="4526280"/>
          </a:xfrm>
          <a:prstGeom prst="roundRect">
            <a:avLst/>
          </a:prstGeom>
          <a:solidFill>
            <a:srgbClr val="F4F6F9"/>
          </a:solidFill>
          <a:ln w="25400">
            <a:solidFill>
              <a:srgbClr val="418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/>
          <a:lstStyle/>
          <a:p>
            <a:pPr algn="ctr">
              <a:defRPr sz="1700" b="1">
                <a:solidFill>
                  <a:srgbClr val="418C69"/>
                </a:solidFill>
              </a:defRPr>
            </a:pPr>
            <a:r>
              <a:t>GSE198520 | Anti-TNF synovium</a:t>
            </a:r>
          </a:p>
          <a:p>
            <a:pPr>
              <a:spcAft>
                <a:spcPts val="500"/>
              </a:spcAft>
              <a:defRPr sz="1220">
                <a:solidFill>
                  <a:srgbClr val="23262D"/>
                </a:solidFill>
              </a:defRPr>
            </a:pPr>
            <a:r>
              <a:t>Unadjusted clean-extreme AUC=0.910</a:t>
            </a:r>
          </a:p>
          <a:p>
            <a:pPr>
              <a:spcAft>
                <a:spcPts val="500"/>
              </a:spcAft>
              <a:defRPr sz="1220">
                <a:solidFill>
                  <a:srgbClr val="23262D"/>
                </a:solidFill>
              </a:defRPr>
            </a:pPr>
            <a:r>
              <a:t>Drug + pathotype adjusted: P=0.0188</a:t>
            </a:r>
          </a:p>
          <a:p>
            <a:pPr>
              <a:spcAft>
                <a:spcPts val="500"/>
              </a:spcAft>
              <a:defRPr sz="1220">
                <a:solidFill>
                  <a:srgbClr val="23262D"/>
                </a:solidFill>
              </a:defRPr>
            </a:pPr>
            <a:r>
              <a:t>Add baseline DAS28: P=0.0329</a:t>
            </a:r>
          </a:p>
          <a:p>
            <a:pPr>
              <a:spcAft>
                <a:spcPts val="500"/>
              </a:spcAft>
              <a:defRPr sz="1220">
                <a:solidFill>
                  <a:srgbClr val="23262D"/>
                </a:solidFill>
              </a:defRPr>
            </a:pPr>
            <a:r>
              <a:t>Add age + sex sensitivity: P=0.0251</a:t>
            </a:r>
          </a:p>
          <a:p>
            <a:pPr>
              <a:spcAft>
                <a:spcPts val="500"/>
              </a:spcAft>
              <a:defRPr sz="1220">
                <a:solidFill>
                  <a:srgbClr val="23262D"/>
                </a:solidFill>
              </a:defRPr>
            </a:pPr>
            <a:r>
              <a:t>Continuous ΔDAS28, baseline DAS28 + drug + pathotype: β=1.58, P=3.96×10⁻8</a:t>
            </a:r>
          </a:p>
          <a:p>
            <a:pPr>
              <a:spcAft>
                <a:spcPts val="500"/>
              </a:spcAft>
              <a:defRPr sz="1220">
                <a:solidFill>
                  <a:srgbClr val="23262D"/>
                </a:solidFill>
              </a:defRPr>
            </a:pPr>
          </a:p>
          <a:p>
            <a:pPr>
              <a:spcAft>
                <a:spcPts val="500"/>
              </a:spcAft>
              <a:defRPr sz="1220">
                <a:solidFill>
                  <a:srgbClr val="23262D"/>
                </a:solidFill>
              </a:defRPr>
            </a:pPr>
            <a:r>
              <a:t>Repeated CV AUC: clinical context 0.633; OXPHOS alone 0.910; combined core 0.874.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053328"/>
            <a:ext cx="10149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33755"/>
                </a:solidFill>
              </a:defRPr>
            </a:pPr>
            <a:r>
              <a:t>Remaining ideal validation: measured differential leukocyte counts linked to an independent whole-blood response cohort.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